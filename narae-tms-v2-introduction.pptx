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-91440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365760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Narae TMS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맑은 고딕"/>
              </a:defRPr>
            </a:pPr>
            <a:r>
              <a:t>Oracle 데이터베이스 SQL 튜닝 관리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Enterprise-Grade SQL Tuning Management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65760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62+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9776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기능 카테고리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9776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AI/LLM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통합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9776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모니터링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주식회사 나래정보기술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www.narae-it.co.kr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왜 SQL 튜닝 관리 시스템이 필요한가?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현재 기업이 직면한 5가지 핵심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2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10728655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37160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수동 모니터링의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627632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수십~수백 개의 SQL을 수동으로 추적하는 것은 비효율적이며, 성능 저하를 사전에 감지하기 어렵습니다.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58568"/>
            <a:ext cx="10728655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2441448"/>
            <a:ext cx="548640" cy="548640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45973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튜닝 이력 관리 부재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97480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튜닝 전/후 성능 비교, 변경 이력, 담당자 추적이 체계적으로 관리되지 않아 반복적인 문제 발생.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28416"/>
            <a:ext cx="10728655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511296"/>
            <a:ext cx="548640" cy="548640"/>
          </a:xfrm>
          <a:prstGeom prst="roundRect">
            <a:avLst>
              <a:gd name="adj" fmla="val 5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295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438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전문가 의존성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767328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SQL 튜닝은 고도의 전문 지식이 필요하여, 특정 인력에 대한 의존도가 높고 지식 공유가 어렵습니다.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98264"/>
            <a:ext cx="10728655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581144"/>
            <a:ext cx="548640" cy="5486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994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507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실시간 대응 불가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837176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성능 이슈 발생 시 원인 파악까지 수 시간이 소요되며, 비즈니스에 직접적인 영향을 미칩니다.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68112"/>
            <a:ext cx="10728655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5650992"/>
            <a:ext cx="548640" cy="54864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669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보안 및 감사 미흡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907024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DB 접속 정보 관리, 작업 이력 추적, 권한 제어가 미흡하여 보안 리스크가 존재합니다.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Narae TMS v2.0 - 6대 핵심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엔터프라이즈급 Oracle SQL 성능 최적화 통합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3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327" y="12801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3767" y="1353312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207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실시간 모니터링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207" y="2057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Top SQL, Wait Events,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Session, Lock 실시간 추적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12801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41367" y="1353312"/>
            <a:ext cx="73152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7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AI/LLM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807" y="2057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온프레미스 LLM 기반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자동 SQL 튜닝 가이드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527" y="12801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8967" y="1353312"/>
            <a:ext cx="731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0407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튜닝 워크플로우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407" y="2057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칸반 보드 기반 5단계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체계적 튜닝 프로세스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327" y="374904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3767" y="3822192"/>
            <a:ext cx="7315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207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성능 히스토리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207" y="4526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A-F 등급 시스템으로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일별/시간대별 추이 분석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9927" y="374904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41367" y="3822192"/>
            <a:ext cx="731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2807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AWR/ADDM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2807" y="4526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Enterprise &amp; Standard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Edition 모두 지원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7527" y="374904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8967" y="3822192"/>
            <a:ext cx="731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0407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보안 &amp; 접근 제어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0407" y="4526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JWT, bcrypt, RBAC,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AES-256 암호화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4계층 모던 웹 아키텍처 (Client → App → AI → Data)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4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10728655" cy="10515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Client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Next.js 15 + React 19 + Tailwind CSS + Shadcn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810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App Router (SSR/CSR)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810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React Query 상태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10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Zustand 전역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810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Framer Motion 애니메이션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810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다크모드 지원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25856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377440"/>
            <a:ext cx="10728655" cy="105156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맑은 고딕"/>
              </a:defRPr>
            </a:pPr>
            <a:r>
              <a:t>Application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Next.js API Routes + NextAuth + Drizzle 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999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RESTful API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999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JWT 인증/인가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999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Drizzle ORM 타입 안전성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999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React Hook Form + Zod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999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서버 컴포넌트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44728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66160"/>
            <a:ext cx="10728655" cy="10515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639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333EA"/>
                </a:solidFill>
                <a:latin typeface="맑은 고딕"/>
              </a:defRPr>
            </a:pPr>
            <a:r>
              <a:t>AI/LLM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Ollama / vLLM (온프레미스)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187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SQL 튜닝 가이드 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187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성능 패턴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187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자연어 SQL 검색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187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스트리밍 응답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187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Clean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63600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754880"/>
            <a:ext cx="10728655" cy="10515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맑은 고딕"/>
              </a:defRPr>
            </a:pPr>
            <a:r>
              <a:t>Data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PostgreSQL 17 + Oracle 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376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PostgreSQL: 앱 메타데이터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376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Oracle: 대상 DB 모니터링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5376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AES-256 연결 암호화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376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Drizzle 마이그레이션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376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감사 로그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실시간 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Oracle 데이터베이스 성능을 실시간으로 추적하고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5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166360" cy="2286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325880"/>
            <a:ext cx="54864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32588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Top SQL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69164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CPU Time / Elapsed Time 기준 순위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4767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Buffer Gets, Disk Reads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0370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실행 횟수 및 평균 성능 추적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45973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SQL_ID별 상세 드릴다운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188720"/>
            <a:ext cx="5166360" cy="228600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1325880"/>
            <a:ext cx="54864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32588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Wait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9164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대기 이벤트 실시간 모니터링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4767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클래스별 분류 및 시각화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20370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Top Wait Events 랭킹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45973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이벤트 발생 추이 그래프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03320"/>
            <a:ext cx="5166360" cy="2286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3840480"/>
            <a:ext cx="54864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84048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Session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0624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활성 세션 실시간 대시보드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46227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세션별 SQL 실행 상태 추적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1830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Blocking Session 감지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97433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세션 Kill 기능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703320"/>
            <a:ext cx="5166360" cy="22860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81928" y="3840480"/>
            <a:ext cx="54864" cy="2011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84048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Lock 모니터링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20624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Lock Holder/Waiter 트리 시각화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6227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Lock 유형별 분류 및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71830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교착 상태(Deadlock) 감지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97433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Lock 해제 지원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98932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80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99.9%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92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시스템 가용성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98932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6080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&lt;100ms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6492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평균 응답 시간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598932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6080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24/7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6492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실시간 모니터링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598932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6080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5초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492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데이터 갱신 주기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SQL 고급 분석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AI 기반 스마트 검색, 실행 계획 분석, 패턴 탐지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6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11887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1199" y="1261872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2367" y="12984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SQL 통합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367" y="15727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AI 기반 스마트 검색 및 패턴 매칭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367" y="1920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자연어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367" y="2194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정규식 지원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367" y="2468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실시간 필터링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367" y="27432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성능 메트릭 기반 정렬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9927" y="11887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3079" y="1261872"/>
            <a:ext cx="54864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4247" y="12984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실행 계획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247" y="15727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실행 계획 시각화 및 최적화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4247" y="1920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트리 시각화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4247" y="2194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비용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4247" y="2468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인덱스 추천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247" y="27432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Plan Hash 비교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1807" y="11887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4959" y="1261872"/>
            <a:ext cx="54864" cy="457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6127" y="12984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AI 성능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6127" y="15727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머신러닝 기반 성능 이슈 자동 진단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6127" y="1920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자동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6127" y="2194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개선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6127" y="2468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예상 개선율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6127" y="27432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LLM 기반 가이드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8047" y="361188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1199" y="3685032"/>
            <a:ext cx="54864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2367" y="37216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성능 비교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2367" y="39959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여러 SQL의 성능 메트릭 비교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2367" y="43434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다중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2367" y="46177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트렌드 분석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367" y="48920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벤치마킹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2367" y="51663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Before/After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49927" y="361188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23079" y="3685032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24247" y="37216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패턴 기반 이슈 탐지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4247" y="39959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반복되는 성능 패턴 자동 식별/분류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4247" y="43434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패턴 인식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4247" y="46177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이상 탐지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4247" y="48920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자동 분류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4247" y="51663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트렌드 예측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61807" y="361188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4959" y="3685032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6127" y="37216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SQL 클러스터 분석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6127" y="39959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유사 SQL 그룹핑 및 A-F 등급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6127" y="43434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SQL 유사도 분석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6127" y="46177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그룹 최적화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6127" y="48920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등급별 관리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6127" y="51663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벌크 튜닝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AI 튜닝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온프레미스 LLM 기반 자동 SQL 튜닝 분석 및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3716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9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SQL 구문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5727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SQL 텍스트의 구조적 문제점 식별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조인 방식, 서브쿼리, 힌트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3172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146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532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실행 계획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157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실행 계획 기반 병목 구간 탐지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비효율적 접근 경로 식별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6576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75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성능 메트릭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8587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Elapsed Time, CPU Time, Buffer Gets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실행 횟수 대비 리소스 사용량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1772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8006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18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종합 튜닝 가이드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0017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분석 결과 통합 리포트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우선순위별 개선 권고사항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5059375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325880"/>
            <a:ext cx="4510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333EA"/>
                </a:solidFill>
                <a:latin typeface="맑은 고딕"/>
              </a:defRPr>
            </a:pPr>
            <a:r>
              <a:t>핵심 특징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1737360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온프레미스 LLM 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1938528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- Ollama / vLLM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139696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- 데이터 외부 유출 방지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414016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실시간 스트리밍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615184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- SSE 기반 응답 스트리밍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816352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- 토큰 단위 실시간 출력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090672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Clean 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291840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- Domain / Application 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493008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  Infrastructure 분리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767328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다중 모델 지원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968496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- Qwen, Llama, Mistral 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169664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- OpenAI 호환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실행계획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실행 계획 조회, 비교, Baseline 관리, DBMS_XPLAN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8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607" y="1188720"/>
            <a:ext cx="2468880" cy="43891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4895" y="1325880"/>
            <a:ext cx="54864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207" y="1325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실행계획 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927" y="16916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V$SQL_PLAN 기반 실시간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1947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트리 구조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927" y="220370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비용/카디널리티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0927" y="24597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접근 경로(Access Path) 추적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927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Predicate 정보 상세 표시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9807" y="1188720"/>
            <a:ext cx="2468880" cy="438912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8095" y="1325880"/>
            <a:ext cx="54864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8407" y="1325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실행계획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4127" y="16916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2개 Plan 동시 비교 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4127" y="1947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변경된 Operation 하이라이트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4127" y="220370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성능 메트릭 차이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4127" y="24597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Plan Hash Value 기반 매칭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4127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Before/After 시각적 비교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1188720"/>
            <a:ext cx="2468880" cy="43891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51295" y="1325880"/>
            <a:ext cx="54864" cy="4114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325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Plan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16916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SQL Plan Baseline 등록/관리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7" y="1947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Accepted/Fixed Plan 제어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327" y="220370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성능 이력 기반 자동 추천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24597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Plan 안정화(Plan Stability)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327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Baseline 활성화/비활성화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6207" y="1188720"/>
            <a:ext cx="2468880" cy="43891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94495" y="1325880"/>
            <a:ext cx="54864" cy="4114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4807" y="1325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DBMS_XPLAN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0527" y="16916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DBMS_XPLAN.DISPLAY_CURSOR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0527" y="1947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ALL/TYPICAL/BASIC 포맷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0527" y="220370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Adaptive Plan 지원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0527" y="24597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Bind Variable Peeking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0527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Note 섹션 상세 해석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튜닝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칸반 보드 기반 5단계 체계적 SQL 튜닝 프로세스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9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487" y="123444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487" y="1234440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487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식별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647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647" y="2011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Top SQL에서</a:t>
            </a:r>
          </a:p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자동 식별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8015" y="17830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32607" y="123444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32607" y="1234440"/>
            <a:ext cx="19202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2607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맑은 고딕"/>
              </a:defRPr>
            </a:pPr>
            <a:r>
              <a:t>진행 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9767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IN_PROGRESS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9767" y="2011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담당자 배정</a:t>
            </a:r>
          </a:p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튜닝 작업 수행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1135" y="17830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35727" y="123444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5727" y="1234440"/>
            <a:ext cx="19202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5727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97316"/>
                </a:solidFill>
                <a:latin typeface="맑은 고딕"/>
              </a:defRPr>
            </a:pPr>
            <a:r>
              <a:t>리뷰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2887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2887" y="2011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튜닝 결과</a:t>
            </a:r>
          </a:p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검토 및 승인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4255" y="17830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38847" y="123444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38847" y="1234440"/>
            <a:ext cx="19202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8847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맑은 고딕"/>
              </a:defRPr>
            </a:pPr>
            <a:r>
              <a:t>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6007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6007" y="2011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Before/After</a:t>
            </a:r>
          </a:p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성능 비교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7375" y="17830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41967" y="123444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41967" y="1234440"/>
            <a:ext cx="192024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1967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맑은 고딕"/>
              </a:defRPr>
            </a:pPr>
            <a:r>
              <a:t>취소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9127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CANCELLED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9127" y="2011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불필요 항목</a:t>
            </a:r>
          </a:p>
          <a:p>
            <a:pPr algn="ctr">
              <a:spcAft>
                <a:spcPts val="799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사유 기록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8047" y="3108960"/>
            <a:ext cx="3291840" cy="23774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6335" y="3246120"/>
            <a:ext cx="54864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6647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칸반 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2367" y="3611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드래그 &amp; 드롭 상태 변경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2367" y="3867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우선순위별 정렬 (Critical/High/Medium/Low)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2367" y="4123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담당자별 필터링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2367" y="43799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실시간 업데이트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9927" y="3108960"/>
            <a:ext cx="3291840" cy="2377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8215" y="324612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78527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Before/After 비교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4247" y="3611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Elapsed Time 개선율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4247" y="3867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CPU Time 개선율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4247" y="4123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Buffer Gets 개선율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4247" y="43799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Plan Hash Value 변경 추적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61807" y="3108960"/>
            <a:ext cx="3291840" cy="23774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80095" y="3246120"/>
            <a:ext cx="54864" cy="21031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0407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협업 기능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6127" y="3611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튜닝 태스크 댓글/토론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6127" y="3867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멘션(@) 기능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6127" y="4123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첨부 파일 지원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6127" y="43799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작업 이력 타임라인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성능 히스토리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A-F 등급 시스템 기반 일별/시간대별 SQL 성능 추이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10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1188720"/>
            <a:ext cx="1600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C55E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16916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최적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19202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0-50ms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1127" y="1188720"/>
            <a:ext cx="1600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1127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4CC16"/>
                </a:solidFill>
                <a:latin typeface="맑은 고딕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1127" y="16916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양호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1127" y="19202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50-200ms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4207" y="1188720"/>
            <a:ext cx="1600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4207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AB308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4207" y="16916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보통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4207" y="19202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200-500ms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1188720"/>
            <a:ext cx="1600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7287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97316"/>
                </a:solidFill>
                <a:latin typeface="맑은 고딕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16916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주의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19202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500ms-1s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0367" y="1188720"/>
            <a:ext cx="1600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0367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F4444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0367" y="16916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경고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0367" y="19202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1s-3s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3447" y="1188720"/>
            <a:ext cx="1600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3447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C2626"/>
                </a:solidFill>
                <a:latin typeface="맑은 고딕"/>
              </a:defRPr>
            </a:pPr>
            <a: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3447" y="16916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447" y="19202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3s+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8047" y="260604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6335" y="2743200"/>
            <a:ext cx="54864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6647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일별 성능 추이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2367" y="3108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SQL별 일별 성능 등급 변화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2367" y="3364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등급 분포 히스토그램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2367" y="36210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개선/악화 SQL 자동 식별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367" y="3877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기간별 비교 분석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49927" y="260604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68215" y="2743200"/>
            <a:ext cx="54864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8527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시간대별 분석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4247" y="3108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24시간 히트맵 시각화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4247" y="3364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피크 시간대 자동 탐지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4247" y="36210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시간대별 Top SQL 변화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4247" y="3877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업무 시간대 집중 분석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61807" y="260604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80095" y="2743200"/>
            <a:ext cx="54864" cy="2011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90407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수집 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6127" y="3108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수집 주기 커스터마이징 (5s~1h)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6127" y="3364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대상 SQL 필터 설정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6127" y="36210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데이터 보존 기간 관리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6127" y="3877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자동 정리(Purge) 정책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AWR / ADDM / STATSPACK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Oracle Enterprise Edition &amp; Standard Edition 모두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188720"/>
            <a:ext cx="51206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AWR (Automatic Workload Repository)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1214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자동 스냅샷 수집 및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4086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AWR 리포트 생성 및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5603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기간별 워크로드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7977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Top Events / SQL / 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36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ADDM (Automatic Database Diagnostic Monitor)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4290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자동 성능 진단 보고서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4845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Finding / Recommendation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679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영향도(Impact) 기반 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8736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이전 기간 대비 변화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439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ASH (Active Session History)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365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실시간 세션 히스토리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9560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시간대별 세션 분포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755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SQL/Event/Module별 분류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949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ASH 리포트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42255" cy="49377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188720"/>
            <a:ext cx="5242255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234440"/>
            <a:ext cx="4693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Standard Edition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828800"/>
            <a:ext cx="4693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STATSPACK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121408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AWR 대안으로 무료 사용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340864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스냅샷 수집/삭제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560320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STATSPACK 리포트 생성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779776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Level 설정 (1-10)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999232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기간별 비교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355848"/>
            <a:ext cx="4693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통계정보 수집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648456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테이블/인덱스 통계 수집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867912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수집 스케줄 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087368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Stale 통계 자동 감지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306824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수집 이력 조회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663440"/>
            <a:ext cx="4693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SQL Trace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956048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세션별 SQL Trace 활성화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175504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TKPROF 분석 지원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394960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10046/10053 이벤트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614416"/>
            <a:ext cx="45107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▸  Trace 파일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리포트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템플릿 기반 리포트 생성, 스케줄링, 다중 포맷 내보내기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12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137160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6335" y="1508760"/>
            <a:ext cx="54864" cy="2651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647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리포트 템플릿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367" y="1874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일별/주별/월별 성능 리포트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367" y="2130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튜닝 현황 요약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367" y="23865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SQL 성능 변화 리포트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367" y="26426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AWR 기반 워크로드 리포트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367" y="2898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커스텀 템플릿 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9927" y="137160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68215" y="1508760"/>
            <a:ext cx="54864" cy="2651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8527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스케줄링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247" y="1874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Cron 기반 자동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4247" y="2130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이메일 자동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4247" y="23865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수신자 그룹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4247" y="26426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생성 이력 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247" y="2898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실행 시간 모니터링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1807" y="137160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0095" y="1508760"/>
            <a:ext cx="54864" cy="2651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0407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내보내기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6127" y="1874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Excel (.xlsx) 내보내기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6127" y="2130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PDF 리포트 생성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6127" y="23865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HTML 웹 리포트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6127" y="26426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차트/그래프 포함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6127" y="2898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다국어 지원 (한/영)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754880"/>
            <a:ext cx="10728655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리포트 워크플로우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534924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422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1. 템플릿 선택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3949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71800" y="534924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5422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2. 기간/대상 설정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53949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534924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5422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3. 리포트 생성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53949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534924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5422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4. 검토/승인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539496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534924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5422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5. 배포/공유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DB 연결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다중 Oracle 데이터베이스 연결, AES-256 암호화, Health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13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12801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6335" y="1417320"/>
            <a:ext cx="54864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647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다중 연결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367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여러 Oracle DB 동시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367" y="20391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연결별 별칭(Alias)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367" y="2295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TNS / Easy Connect 지원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367" y="25511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연결 풀링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367" y="2807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실시간 연결 상태 표시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9927" y="12801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68215" y="1417320"/>
            <a:ext cx="54864" cy="2926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8527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보안 암호화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247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AES-256-CBC 비밀번호 암호화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4247" y="20391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환경변수 기반 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4247" y="2295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비밀번호 마스킹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4247" y="25511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암호화 키 로테이션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247" y="2807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Zero-Knowledge 설계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1807" y="12801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0095" y="1417320"/>
            <a:ext cx="54864" cy="2926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0407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Health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6127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주기적 연결 상태 점검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6127" y="20391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Oracle Edition 자동 감지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6127" y="2295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Enterprise/Standard 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6127" y="25511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연결 실패 자동 알림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6127" y="2807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▸  연결 복구 자동 재시도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46320"/>
            <a:ext cx="1072865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연결 정보 스키마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57800"/>
            <a:ext cx="99971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호스트(Host) / 포트(Port) / SID or Service 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486400"/>
            <a:ext cx="99971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사용자명(Username) / 암호화된 비밀번호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715000"/>
            <a:ext cx="99971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Oracle Edition 정보 / 연결 상태 / 마지막 점검 시간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AI/LLM 통합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6가지 Use Case, Clean Architecture, 온프레미스 보안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14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887" y="118872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887" y="1188720"/>
            <a:ext cx="1645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327" y="1298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SQL 구조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327" y="1600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SQL 텍스트의 구조적</a:t>
            </a:r>
          </a:p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문제점 자동 식별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29687" y="118872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29687" y="1188720"/>
            <a:ext cx="16459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1127" y="1298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실행계획 해석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1127" y="1600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실행계획 기반</a:t>
            </a:r>
          </a:p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병목 구간 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8487" y="118872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8487" y="1188720"/>
            <a:ext cx="1645920" cy="457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9927" y="1298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튜닝 가이드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9927" y="1600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단계별 최적화</a:t>
            </a:r>
          </a:p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가이드 생성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118872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1188720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8727" y="1298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인덱스 추천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1600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누락/비효율 인덱스</a:t>
            </a:r>
          </a:p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자동 추천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6087" y="118872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6087" y="1188720"/>
            <a:ext cx="164592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7527" y="1298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쿼리 리팩토링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7527" y="1600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AI 기반 SQL</a:t>
            </a:r>
          </a:p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재작성 제안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44887" y="118872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44887" y="1188720"/>
            <a:ext cx="16459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6327" y="1298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패턴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6327" y="1600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성능 이슈 패턴</a:t>
            </a:r>
          </a:p>
          <a:p>
            <a:pPr algn="ctr">
              <a:spcAft>
                <a:spcPts val="54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자동 분류/학습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2743200"/>
            <a:ext cx="51206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333EA"/>
                </a:solidFill>
                <a:latin typeface="맑은 고딕"/>
              </a:defRPr>
            </a:pPr>
            <a:r>
              <a:t>Clean Architecture 설계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3291840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3337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Domain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5661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엔티티, 값 객체, 도메인 서비스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3913632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39593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Application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18795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Use Case, DTO, 포트 정의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" y="4535424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45811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Infrastructure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480974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LLM 클라이언트, 리포지토리 구현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" y="5157216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202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Presentation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43153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React 컴포넌트, API Route 핸들러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2743200"/>
            <a:ext cx="5242255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880360"/>
            <a:ext cx="4693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맑은 고딕"/>
              </a:defRPr>
            </a:pPr>
            <a:r>
              <a:t>온프레미스 보안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337560"/>
            <a:ext cx="4693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데이터가 외부로 전송되지 않음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3630168"/>
            <a:ext cx="4693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자체 서버에서 LLM 실행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922776"/>
            <a:ext cx="4693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Ollama / vLLM 엔진 지원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215384"/>
            <a:ext cx="4693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OpenAI 호환 API 인터페이스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4507992"/>
            <a:ext cx="4693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모델 선택 자유도 (Qwen, Llama, ...)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800600"/>
            <a:ext cx="4693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스트리밍 응답 (SSE)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093208"/>
            <a:ext cx="4693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대화 이력 관리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385816"/>
            <a:ext cx="4693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응답 내보내기 기능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보안 &amp; 접근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JWT 인증, bcrypt 해싱, RBAC, 감사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15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607" y="128016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4895" y="1417320"/>
            <a:ext cx="54864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207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인증 (Authentication)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927" y="17830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NextAuth v4 JWT 전략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20391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bcrypt 비밀번호 해싱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927" y="2295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세션 토큰 자동 갱신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0927" y="25511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로그인 시도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927" y="28072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비밀번호 정책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9807" y="128016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8095" y="1417320"/>
            <a:ext cx="54864" cy="29260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8407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인가 (Authorization)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4127" y="17830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Role 기반 접근 제어 (RBAC)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4127" y="20391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Admin / DBA / Viewer 역할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4127" y="2295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페이지별 권한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4127" y="25511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API 엔드포인트 보호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4127" y="28072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동적 메뉴 권한 적용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128016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51295" y="1417320"/>
            <a:ext cx="54864" cy="2926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데이터 보안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17830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AES-256-CBC DB 비밀번호 암호화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7" y="20391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환경변수 기반 시크릿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327" y="2295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HTTPS 전송 암호화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25511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SQL Injection 방지 (Drizzle ORM)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327" y="28072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XSS/CSRF 보호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6207" y="128016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94495" y="1417320"/>
            <a:ext cx="54864" cy="2926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4807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감사 &amp; 모니터링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0527" y="17830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전체 작업 이력 추적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0527" y="20391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로그인/로그아웃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0527" y="2295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DB 연결 변경 이력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0527" y="25511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튜닝 작업 감사 로그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0527" y="28072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타임스탬프 기반 추적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6607" y="4846320"/>
            <a:ext cx="2468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607" y="4937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맑은 고딕"/>
              </a:defRPr>
            </a:pPr>
            <a:r>
              <a:t>ISO 27001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607" y="5349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보안 인증 기준 준수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89807" y="4846320"/>
            <a:ext cx="2468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9807" y="4937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맑은 고딕"/>
              </a:defRPr>
            </a:pPr>
            <a:r>
              <a:t>99.9%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89807" y="5349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시스템 가용성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3007" y="4846320"/>
            <a:ext cx="2468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3007" y="4937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맑은 고딕"/>
              </a:defRPr>
            </a:pPr>
            <a:r>
              <a:t>AES-256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3007" y="5349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군사급 암호화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76207" y="4846320"/>
            <a:ext cx="2468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76207" y="4937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맑은 고딕"/>
              </a:defRPr>
            </a:pPr>
            <a:r>
              <a:t>RBAC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6207" y="5349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역할 기반 접근 제어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경쟁 우위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기존 도구 대비 Narae TMS v2.0의 차별화 포인트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16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기능 영역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28016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371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맑은 고딕"/>
              </a:defRPr>
            </a:pPr>
            <a:r>
              <a:t>기존 도구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28016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371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Narae TMS v2.0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7830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874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모니터링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178308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수동 SQL*Plus / 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78308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874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실시간 대시보드 + AI 자동 알림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28600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SQL 튜닝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228600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개인 노하우 의존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28600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2377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AI 가이드 + 체계적 워크플로우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7889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이력 관리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27889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엑셀/문서 수동 관리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278892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880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자동 Before/After + 타임라인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29184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383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실행계획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329184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DBMS_XPLAN 수동 실행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329184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3383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시각화 + 비교 + Baseline 관리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7947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보안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0" y="379476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80" y="3886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공유 계정 / 평문 저장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379476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3886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RBAC + AES-256 + 감사 로그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297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89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협업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74720" y="429768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1188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이메일/메신저 비체계적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5120" y="429768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4389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칸반 보드 + 댓글 + 멘션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80060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리포트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74720" y="480060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1188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수동 생성 / 비정형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75120" y="480060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4892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자동 템플릿 + 스케줄 + 다중 포맷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3035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5394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AI/LLM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74720" y="53035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1188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미지원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75120" y="530352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2280" y="5394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온프레미스 LLM + 6가지 Use Case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580644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897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Edition 지원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74720" y="580644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11880" y="5897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EE 중심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75120" y="580644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12280" y="5897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Enterprise + Standard 모두 지원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모던 웹 기술 기반 엔터프라이즈급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Narae TMS v2.0  |  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607" y="1188720"/>
            <a:ext cx="2468880" cy="47548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607" y="1188720"/>
            <a:ext cx="24688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607" y="12618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487" y="1783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Next.js 15.1 (App Router)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87" y="21488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React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487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TypeScript (Strict)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87" y="2880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487" y="3246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Shadcn UI + Radix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487" y="3611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React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87" y="3977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Zustand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487" y="4343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React Hook Form + Zod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87" y="4709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Framer 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87" y="5074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Lucide Icons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89807" y="1188720"/>
            <a:ext cx="2468880" cy="475488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9807" y="1188720"/>
            <a:ext cx="24688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89807" y="12618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2687" y="1783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Next.js API 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2687" y="21488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NextAuth v4 (JWT)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2687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Drizzle 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2687" y="2880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PostgreSQL 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2687" y="3246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Oracle Database (대상)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2687" y="3611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bcrypt (해싱)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687" y="3977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AES-256-CBC (암호화)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687" y="4343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node-oracledb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2687" y="4709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ts-pattern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687" y="5074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es-toolkit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3007" y="1188720"/>
            <a:ext cx="2468880" cy="475488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3007" y="1188720"/>
            <a:ext cx="2468880" cy="457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3007" y="12618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5887" y="1783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Ollama (온프레미스)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887" y="21488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vLLM (대안 엔진)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5887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OpenAI 호환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5887" y="2880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SSE 스트리밍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5887" y="3246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Clean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5887" y="3611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도메인 주도 설계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5887" y="3977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Qwen / Llama / Mistral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5887" y="4343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프롬프트 엔지니어링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5887" y="4709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대화 이력 관리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5887" y="5074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응답 내보내기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76207" y="1188720"/>
            <a:ext cx="2468880" cy="47548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76207" y="1188720"/>
            <a:ext cx="246888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76207" y="12618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DevOps &amp; Export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59087" y="1783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Turbopack (개발)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59087" y="21488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ESLint / Prettier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59087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Drizzle Migrations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59087" y="2880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GitHub CI/CD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59087" y="3246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Excel 내보내기 (xlsx)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59087" y="3611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PDF 생성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59087" y="3977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HTML 리포트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59087" y="4343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next-themes (다크모드)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9087" y="4709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date-fns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59087" y="5074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▸  react-use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4572000"/>
            <a:ext cx="5486400" cy="5486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Narae TMS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749039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Enterprise-Grade Oracle SQL Tuning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주식회사 나래정보기술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www.narae-it.co.kr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1208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contact@narae-it.co.kr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521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563EB"/>
                </a:solidFill>
                <a:latin typeface="맑은 고딕"/>
              </a:defRPr>
            </a:pPr>
            <a:r>
              <a:t>실시간 모니터링  •  AI 튜닝 가이드  •  체계적 워크플로우  •  엔터프라이즈 보안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